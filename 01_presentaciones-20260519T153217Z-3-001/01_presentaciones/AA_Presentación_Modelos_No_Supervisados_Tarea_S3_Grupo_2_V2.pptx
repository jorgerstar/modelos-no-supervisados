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embeddedFontLst>
    <p:embeddedFont>
      <p:font typeface="Poppins"/>
      <p:regular r:id="rId22"/>
      <p:bold r:id="rId23"/>
      <p:italic r:id="rId24"/>
      <p:boldItalic r:id="rId25"/>
    </p:embeddedFont>
    <p:embeddedFont>
      <p:font typeface="La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B7322F4-C636-49E6-9FEC-BCA71350C544}">
  <a:tblStyle styleId="{FB7322F4-C636-49E6-9FEC-BCA71350C54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Poppins-regular.fntdata"/><Relationship Id="rId21" Type="http://schemas.openxmlformats.org/officeDocument/2006/relationships/slide" Target="slides/slide15.xml"/><Relationship Id="rId24" Type="http://schemas.openxmlformats.org/officeDocument/2006/relationships/font" Target="fonts/Poppins-italic.fntdata"/><Relationship Id="rId23" Type="http://schemas.openxmlformats.org/officeDocument/2006/relationships/font" Target="fonts/Poppi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regular.fntdata"/><Relationship Id="rId25" Type="http://schemas.openxmlformats.org/officeDocument/2006/relationships/font" Target="fonts/Poppins-boldItalic.fntdata"/><Relationship Id="rId28" Type="http://schemas.openxmlformats.org/officeDocument/2006/relationships/font" Target="fonts/Lato-italic.fntdata"/><Relationship Id="rId27" Type="http://schemas.openxmlformats.org/officeDocument/2006/relationships/font" Target="fonts/Lat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295275" y="1724025"/>
            <a:ext cx="116014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Modelos de Aprendizaje No Supervisado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571500" y="2405955"/>
            <a:ext cx="11049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Impacto de Redes Sociales en la Salud Mental de Adolescentes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4143226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Maestría en Inteligencia Artificial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638526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Grupo 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Introducción y Objetivos</a:t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571500" y="1190625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571500" y="2133625"/>
            <a:ext cx="5600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Contexto del Problema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2600350"/>
            <a:ext cx="53340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El uso intensivo de plataformas digitales ha transformado la interacción social. Este estudio busca entender cómo variables de comportamiento digital impactan en indicadores de salud mental.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4192075"/>
            <a:ext cx="114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85800" y="4192075"/>
            <a:ext cx="4953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Dataset: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Teen Mental Health (1,200 registros).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4496875"/>
            <a:ext cx="114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85800" y="4496875"/>
            <a:ext cx="4953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Población: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Adolescentes de 13 a 19 años.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4801675"/>
            <a:ext cx="114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85800" y="4801675"/>
            <a:ext cx="8754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Enfoque: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Segmentación no supervisada para identificar</a:t>
            </a:r>
            <a:r>
              <a:rPr lang="en-US" sz="15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grupos vulnerables.</a:t>
            </a:r>
            <a:endParaRPr/>
          </a:p>
        </p:txBody>
      </p:sp>
      <p:pic>
        <p:nvPicPr>
          <p:cNvPr id="102" name="Google Shape;10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1392" y="2133625"/>
            <a:ext cx="4709109" cy="246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Análisis Exploratorio: Distribuciones</a:t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571500" y="1190625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6498175" y="2462200"/>
            <a:ext cx="53889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Hallazgos Clave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553200" y="28908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667500" y="289083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Uso de Redes: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Distribución con picos en niveles moderados y altos.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6553200" y="35004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667500" y="350043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Salud Mental: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Los niveles de estrés y ansiedad muestran una varianza significativa, ideal para clustering.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6553200" y="41100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667500" y="411003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Rendimiento Académico: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Correlación visual preliminar con horas de sueño.</a:t>
            </a:r>
            <a:endParaRPr/>
          </a:p>
        </p:txBody>
      </p: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625" y="1637225"/>
            <a:ext cx="5981700" cy="42442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Relaciones entre Variables</a:t>
            </a:r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571500" y="1190625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6019800" y="3752850"/>
            <a:ext cx="5600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Interdependencias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6019800" y="4219575"/>
            <a:ext cx="5334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 observa una correlación positiva fuerte entre: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6019800" y="5514975"/>
            <a:ext cx="5334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Correlación negativa entre: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6286500" y="4714875"/>
            <a:ext cx="114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6400800" y="4714875"/>
            <a:ext cx="4953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Horas en redes sociales y nivel de adicción.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6286500" y="5019675"/>
            <a:ext cx="114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6400800" y="5019675"/>
            <a:ext cx="4953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Nivel de estrés y nivel de ansiedad.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286500" y="6010275"/>
            <a:ext cx="114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400800" y="6010275"/>
            <a:ext cx="4953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Horas de sueño y nivel de estrés.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286500" y="6315075"/>
            <a:ext cx="114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400800" y="6315075"/>
            <a:ext cx="4953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Actividad física y niveles de ansiedad.</a:t>
            </a:r>
            <a:endParaRPr/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4250" y="1400175"/>
            <a:ext cx="6943507" cy="197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3562350"/>
            <a:ext cx="3830108" cy="313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7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Análisis de Varianza por Género</a:t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571500" y="1190625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571500" y="5486400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El análisis de cajas permite identificar si existen sesgos de partida en los niveles de estrés o ansiedad según el género antes de aplicar el clustering.</a:t>
            </a:r>
            <a:endParaRPr/>
          </a:p>
        </p:txBody>
      </p:sp>
      <p:pic>
        <p:nvPicPr>
          <p:cNvPr id="143" name="Google Shape;14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50" y="1399363"/>
            <a:ext cx="11468100" cy="38021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Metodología de Modelado</a:t>
            </a:r>
            <a:endParaRPr/>
          </a:p>
        </p:txBody>
      </p:sp>
      <p:sp>
        <p:nvSpPr>
          <p:cNvPr id="149" name="Google Shape;149;p18"/>
          <p:cNvSpPr/>
          <p:nvPr/>
        </p:nvSpPr>
        <p:spPr>
          <a:xfrm>
            <a:off x="571500" y="1190625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571500" y="2838450"/>
            <a:ext cx="56007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1. Preprocesamiento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571500" y="3305175"/>
            <a:ext cx="533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Escalado de variables mediante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StandardScaler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para asegurar que las distancias euclidianas no se vean afectadas por las escalas de medición.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6286500" y="2838450"/>
            <a:ext cx="56007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2. Algoritmos Aplicados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6553200" y="326707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6667500" y="326707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K-Means: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Segmentación particional basada en centroides.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6553200" y="357187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6667500" y="357187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DBSCAN: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Agrupamiento basado en densidad para detectar formas irregulares y ruido.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6553200" y="418147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6667500" y="418147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PCA / t-SNE: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Reducción de dimensiones para visualización y validación.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9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K-Means: Determinación de 'K'</a:t>
            </a:r>
            <a:endParaRPr/>
          </a:p>
        </p:txBody>
      </p:sp>
      <p:sp>
        <p:nvSpPr>
          <p:cNvPr id="164" name="Google Shape;164;p19"/>
          <p:cNvSpPr/>
          <p:nvPr/>
        </p:nvSpPr>
        <p:spPr>
          <a:xfrm>
            <a:off x="571500" y="1190625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571500" y="5421312"/>
            <a:ext cx="11049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 seleccionó el número óptimo de clusters basándose en el punto de inflexión de la inercia y la maximización del coeficiente de silueta.</a:t>
            </a:r>
            <a:endParaRPr/>
          </a:p>
        </p:txBody>
      </p:sp>
      <p:pic>
        <p:nvPicPr>
          <p:cNvPr id="166" name="Google Shape;16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16075"/>
            <a:ext cx="5981701" cy="32750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7" name="Google Shape;16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86500" y="1616075"/>
            <a:ext cx="5753101" cy="32750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0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Segmentación Resultante (K-Means)</a:t>
            </a:r>
            <a:endParaRPr/>
          </a:p>
        </p:txBody>
      </p:sp>
      <p:sp>
        <p:nvSpPr>
          <p:cNvPr id="173" name="Google Shape;173;p20"/>
          <p:cNvSpPr/>
          <p:nvPr/>
        </p:nvSpPr>
        <p:spPr>
          <a:xfrm>
            <a:off x="571500" y="1190625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5803700" y="2697800"/>
            <a:ext cx="53340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Perfiles Identificados</a:t>
            </a:r>
            <a:endParaRPr/>
          </a:p>
        </p:txBody>
      </p:sp>
      <p:graphicFrame>
        <p:nvGraphicFramePr>
          <p:cNvPr id="175" name="Google Shape;175;p20"/>
          <p:cNvGraphicFramePr/>
          <p:nvPr/>
        </p:nvGraphicFramePr>
        <p:xfrm>
          <a:off x="5803700" y="31645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{FB7322F4-C636-49E6-9FEC-BCA71350C544}</a:tableStyleId>
              </a:tblPr>
              <a:tblGrid>
                <a:gridCol w="1271450"/>
                <a:gridCol w="4062550"/>
              </a:tblGrid>
              <a:tr h="38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Cluster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Perfil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82F6"/>
                    </a:solidFill>
                  </a:tcPr>
                </a:tc>
              </a:tr>
              <a:tr h="38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Uso saludable / Bajo estrés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Riesgo moderado / Alta ansiedad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Uso intensivo / Adicción digital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Equilibrado / Alto desempeño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6" name="Google Shape;176;p20"/>
          <p:cNvSpPr/>
          <p:nvPr/>
        </p:nvSpPr>
        <p:spPr>
          <a:xfrm>
            <a:off x="5803700" y="3940825"/>
            <a:ext cx="1271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7075138" y="3940825"/>
            <a:ext cx="40626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5803700" y="4321825"/>
            <a:ext cx="1271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7075138" y="4321825"/>
            <a:ext cx="40626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5803700" y="4702825"/>
            <a:ext cx="1271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7075138" y="4702825"/>
            <a:ext cx="40626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5803700" y="5083825"/>
            <a:ext cx="1271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7075138" y="5083825"/>
            <a:ext cx="40626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20"/>
          <p:cNvPicPr preferRelativeResize="0"/>
          <p:nvPr/>
        </p:nvPicPr>
        <p:blipFill rotWithShape="1">
          <a:blip r:embed="rId3">
            <a:alphaModFix/>
          </a:blip>
          <a:srcRect b="0" l="0" r="49670" t="7655"/>
          <a:stretch/>
        </p:blipFill>
        <p:spPr>
          <a:xfrm>
            <a:off x="571500" y="1436575"/>
            <a:ext cx="4062599" cy="2688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/>
          <p:cNvPicPr preferRelativeResize="0"/>
          <p:nvPr/>
        </p:nvPicPr>
        <p:blipFill rotWithShape="1">
          <a:blip r:embed="rId3">
            <a:alphaModFix/>
          </a:blip>
          <a:srcRect b="0" l="50120" r="0" t="5980"/>
          <a:stretch/>
        </p:blipFill>
        <p:spPr>
          <a:xfrm>
            <a:off x="509400" y="4096000"/>
            <a:ext cx="4062599" cy="27620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Distribución de Features por Cluster</a:t>
            </a:r>
            <a:endParaRPr/>
          </a:p>
        </p:txBody>
      </p:sp>
      <p:sp>
        <p:nvSpPr>
          <p:cNvPr id="191" name="Google Shape;191;p21"/>
          <p:cNvSpPr/>
          <p:nvPr/>
        </p:nvSpPr>
        <p:spPr>
          <a:xfrm>
            <a:off x="571500" y="1190625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571500" y="5648350"/>
            <a:ext cx="11049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Este gráfico confirma la separación de los grupos: el Cluster de "Riesgo" muestra niveles de estrés consistentemente más altos que la media.</a:t>
            </a:r>
            <a:endParaRPr/>
          </a:p>
        </p:txBody>
      </p:sp>
      <p:pic>
        <p:nvPicPr>
          <p:cNvPr id="193" name="Google Shape;19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8425" y="1443038"/>
            <a:ext cx="8075154" cy="397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2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DBSCAN: Análisis de Densidad</a:t>
            </a:r>
            <a:endParaRPr/>
          </a:p>
        </p:txBody>
      </p:sp>
      <p:sp>
        <p:nvSpPr>
          <p:cNvPr id="199" name="Google Shape;199;p22"/>
          <p:cNvSpPr/>
          <p:nvPr/>
        </p:nvSpPr>
        <p:spPr>
          <a:xfrm>
            <a:off x="571500" y="1190625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2"/>
          <p:cNvSpPr txBox="1"/>
          <p:nvPr/>
        </p:nvSpPr>
        <p:spPr>
          <a:xfrm>
            <a:off x="624400" y="5091642"/>
            <a:ext cx="11091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Ajuste de Parámetros</a:t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624400" y="5516033"/>
            <a:ext cx="10563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diferencia de K-Means, DBSCAN identifica puntos que no pertenecen a ninguna densidad clara (ruido).</a:t>
            </a:r>
            <a:endParaRPr/>
          </a:p>
        </p:txBody>
      </p:sp>
      <p:sp>
        <p:nvSpPr>
          <p:cNvPr id="202" name="Google Shape;202;p22"/>
          <p:cNvSpPr txBox="1"/>
          <p:nvPr/>
        </p:nvSpPr>
        <p:spPr>
          <a:xfrm>
            <a:off x="1152560" y="5924550"/>
            <a:ext cx="226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1378914" y="5924550"/>
            <a:ext cx="9808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Epsilon (eps):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Determinado mediante el método de la rodilla en distancias K.</a:t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1152560" y="6248400"/>
            <a:ext cx="226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1378914" y="6248400"/>
            <a:ext cx="9808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Min Samples: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Definido para evitar clusters excesivamente pequeños.</a:t>
            </a:r>
            <a:endParaRPr/>
          </a:p>
        </p:txBody>
      </p:sp>
      <p:pic>
        <p:nvPicPr>
          <p:cNvPr id="206" name="Google Shape;20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8213" y="1436314"/>
            <a:ext cx="9915682" cy="352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3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DBSCAN: Clusters y Outliers</a:t>
            </a:r>
            <a:endParaRPr/>
          </a:p>
        </p:txBody>
      </p:sp>
      <p:sp>
        <p:nvSpPr>
          <p:cNvPr id="212" name="Google Shape;212;p23"/>
          <p:cNvSpPr/>
          <p:nvPr/>
        </p:nvSpPr>
        <p:spPr>
          <a:xfrm>
            <a:off x="571500" y="1190625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3"/>
          <p:cNvSpPr txBox="1"/>
          <p:nvPr/>
        </p:nvSpPr>
        <p:spPr>
          <a:xfrm>
            <a:off x="571500" y="1436675"/>
            <a:ext cx="11049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DBSCAN fue capaz de separar a los adolescentes con comportamientos "extremos" del grupo central, clasificando a estos últimos como una gran densidad única o puntos de ruido.</a:t>
            </a:r>
            <a:endParaRPr/>
          </a:p>
        </p:txBody>
      </p:sp>
      <p:pic>
        <p:nvPicPr>
          <p:cNvPr id="214" name="Google Shape;21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00" y="2263968"/>
            <a:ext cx="10912074" cy="4181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4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Análisis de Componentes Principales (PCA)</a:t>
            </a:r>
            <a:endParaRPr/>
          </a:p>
        </p:txBody>
      </p:sp>
      <p:sp>
        <p:nvSpPr>
          <p:cNvPr id="220" name="Google Shape;220;p24"/>
          <p:cNvSpPr/>
          <p:nvPr/>
        </p:nvSpPr>
        <p:spPr>
          <a:xfrm>
            <a:off x="571500" y="1190625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4"/>
          <p:cNvSpPr txBox="1"/>
          <p:nvPr/>
        </p:nvSpPr>
        <p:spPr>
          <a:xfrm>
            <a:off x="571500" y="4967287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Los dos primeros componentes explican la mayor parte de la varianza, permitiendo validar visualmente la separación de los clusters en un plano bidimensional.</a:t>
            </a:r>
            <a:endParaRPr/>
          </a:p>
        </p:txBody>
      </p:sp>
      <p:pic>
        <p:nvPicPr>
          <p:cNvPr id="222" name="Google Shape;22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9188" y="1362075"/>
            <a:ext cx="8093624" cy="34528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5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Visualización No Lineal: t-SNE</a:t>
            </a:r>
            <a:endParaRPr/>
          </a:p>
        </p:txBody>
      </p:sp>
      <p:sp>
        <p:nvSpPr>
          <p:cNvPr id="228" name="Google Shape;228;p25"/>
          <p:cNvSpPr/>
          <p:nvPr/>
        </p:nvSpPr>
        <p:spPr>
          <a:xfrm>
            <a:off x="571500" y="1190625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5"/>
          <p:cNvSpPr txBox="1"/>
          <p:nvPr/>
        </p:nvSpPr>
        <p:spPr>
          <a:xfrm>
            <a:off x="571500" y="1416575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t-SNE revela estructuras locales que PCA (siendo lineal) podría omitir.</a:t>
            </a:r>
            <a:endParaRPr/>
          </a:p>
        </p:txBody>
      </p:sp>
      <p:pic>
        <p:nvPicPr>
          <p:cNvPr id="230" name="Google Shape;23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99975"/>
            <a:ext cx="11366082" cy="4905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6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Validación con Depression Label</a:t>
            </a:r>
            <a:endParaRPr/>
          </a:p>
        </p:txBody>
      </p:sp>
      <p:sp>
        <p:nvSpPr>
          <p:cNvPr id="236" name="Google Shape;236;p26"/>
          <p:cNvSpPr/>
          <p:nvPr/>
        </p:nvSpPr>
        <p:spPr>
          <a:xfrm>
            <a:off x="571500" y="1190625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6"/>
          <p:cNvSpPr txBox="1"/>
          <p:nvPr/>
        </p:nvSpPr>
        <p:spPr>
          <a:xfrm>
            <a:off x="571500" y="1394325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Al contrastar los clusters con la etiqueta de depresión (que no se usó para entrenar), observamos:</a:t>
            </a:r>
            <a:endParaRPr/>
          </a:p>
        </p:txBody>
      </p:sp>
      <p:sp>
        <p:nvSpPr>
          <p:cNvPr id="238" name="Google Shape;238;p26"/>
          <p:cNvSpPr txBox="1"/>
          <p:nvPr/>
        </p:nvSpPr>
        <p:spPr>
          <a:xfrm>
            <a:off x="617259" y="1718175"/>
            <a:ext cx="246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39" name="Google Shape;239;p26"/>
          <p:cNvSpPr txBox="1"/>
          <p:nvPr/>
        </p:nvSpPr>
        <p:spPr>
          <a:xfrm>
            <a:off x="864258" y="1718175"/>
            <a:ext cx="10703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El cluster con mayor nivel de adicción y ansiedad tiene la mayor tasa de depresión positiva.</a:t>
            </a:r>
            <a:endParaRPr/>
          </a:p>
        </p:txBody>
      </p:sp>
      <p:sp>
        <p:nvSpPr>
          <p:cNvPr id="240" name="Google Shape;240;p26"/>
          <p:cNvSpPr txBox="1"/>
          <p:nvPr/>
        </p:nvSpPr>
        <p:spPr>
          <a:xfrm>
            <a:off x="571500" y="2073775"/>
            <a:ext cx="246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41" name="Google Shape;241;p26"/>
          <p:cNvSpPr txBox="1"/>
          <p:nvPr/>
        </p:nvSpPr>
        <p:spPr>
          <a:xfrm>
            <a:off x="818500" y="2073775"/>
            <a:ext cx="10703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Esto valida la capacidad del modelo para identificar perfiles de riesgo real.</a:t>
            </a:r>
            <a:endParaRPr/>
          </a:p>
        </p:txBody>
      </p:sp>
      <p:pic>
        <p:nvPicPr>
          <p:cNvPr id="242" name="Google Shape;24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00" y="2552916"/>
            <a:ext cx="11165423" cy="396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7"/>
          <p:cNvSpPr txBox="1"/>
          <p:nvPr/>
        </p:nvSpPr>
        <p:spPr>
          <a:xfrm>
            <a:off x="571500" y="571500"/>
            <a:ext cx="11601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Conclusiones y Recomendaciones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48" name="Google Shape;248;p27"/>
          <p:cNvSpPr/>
          <p:nvPr/>
        </p:nvSpPr>
        <p:spPr>
          <a:xfrm>
            <a:off x="571500" y="1190625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7"/>
          <p:cNvSpPr txBox="1"/>
          <p:nvPr/>
        </p:nvSpPr>
        <p:spPr>
          <a:xfrm>
            <a:off x="571500" y="1492250"/>
            <a:ext cx="111654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Conclusiones Técnicas</a:t>
            </a:r>
            <a:endParaRPr/>
          </a:p>
        </p:txBody>
      </p:sp>
      <p:sp>
        <p:nvSpPr>
          <p:cNvPr id="250" name="Google Shape;250;p27"/>
          <p:cNvSpPr txBox="1"/>
          <p:nvPr/>
        </p:nvSpPr>
        <p:spPr>
          <a:xfrm>
            <a:off x="571500" y="1958975"/>
            <a:ext cx="106338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Lato"/>
              <a:buChar char="●"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K-Means ofreció una segmentación más equilibrada para la toma de decisiones.</a:t>
            </a:r>
            <a:endParaRPr b="0" i="0" sz="1500" u="none" cap="none" strike="noStrike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Lato"/>
              <a:buChar char="●"/>
            </a:pPr>
            <a:r>
              <a:rPr lang="en-US" sz="15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Las variables de salud mental (estrés/ansiedad) son los principales diferenciadores de grupo.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1" name="Google Shape;251;p27"/>
          <p:cNvSpPr txBox="1"/>
          <p:nvPr/>
        </p:nvSpPr>
        <p:spPr>
          <a:xfrm>
            <a:off x="571500" y="3693575"/>
            <a:ext cx="111654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Recomendaciones</a:t>
            </a:r>
            <a:endParaRPr/>
          </a:p>
        </p:txBody>
      </p:sp>
      <p:sp>
        <p:nvSpPr>
          <p:cNvPr id="252" name="Google Shape;252;p27"/>
          <p:cNvSpPr txBox="1"/>
          <p:nvPr/>
        </p:nvSpPr>
        <p:spPr>
          <a:xfrm>
            <a:off x="571500" y="4160300"/>
            <a:ext cx="106338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Lato"/>
              <a:buChar char="●"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Intervenir prioritariamente en el "Cluster de Adicción Digital"</a:t>
            </a:r>
            <a:r>
              <a:rPr lang="en-US" sz="15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5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Lato"/>
              <a:buChar char="●"/>
            </a:pPr>
            <a:r>
              <a:rPr lang="en-US" sz="15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Fomentar la actividad física como factor mitigante detectado en el EDA.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